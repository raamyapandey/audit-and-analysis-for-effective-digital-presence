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820" r:id="rId5"/>
    <p:sldId id="821" r:id="rId6"/>
    <p:sldId id="834" r:id="rId7"/>
    <p:sldId id="835" r:id="rId8"/>
    <p:sldId id="836" r:id="rId9"/>
    <p:sldId id="825" r:id="rId10"/>
    <p:sldId id="837" r:id="rId11"/>
    <p:sldId id="838" r:id="rId12"/>
    <p:sldId id="839" r:id="rId13"/>
    <p:sldId id="832" r:id="rId14"/>
    <p:sldId id="83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CBBA"/>
    <a:srgbClr val="562F08"/>
    <a:srgbClr val="853F00"/>
    <a:srgbClr val="F7F7F7"/>
    <a:srgbClr val="E6E6E6"/>
    <a:srgbClr val="1C1E26"/>
    <a:srgbClr val="303342"/>
    <a:srgbClr val="485F74"/>
    <a:srgbClr val="354655"/>
    <a:srgbClr val="C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E0F24-3E44-4B7D-BC36-FFCD62ECD69A}" v="21" dt="2025-07-28T12:01:23.736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5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4080"/>
        <p:guide pos="3840"/>
      </p:guideLst>
    </p:cSldViewPr>
  </p:slideViewPr>
  <p:outlineViewPr>
    <p:cViewPr>
      <p:scale>
        <a:sx n="75" d="100"/>
        <a:sy n="75" d="100"/>
      </p:scale>
      <p:origin x="0" y="-1857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757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Pandey" userId="a8a487a8b171eb31" providerId="LiveId" clId="{4DDE0F24-3E44-4B7D-BC36-FFCD62ECD69A}"/>
    <pc:docChg chg="undo custSel addSld delSld modSld">
      <pc:chgData name="Mayank Pandey" userId="a8a487a8b171eb31" providerId="LiveId" clId="{4DDE0F24-3E44-4B7D-BC36-FFCD62ECD69A}" dt="2025-07-29T06:26:52.090" v="57" actId="2696"/>
      <pc:docMkLst>
        <pc:docMk/>
      </pc:docMkLst>
      <pc:sldChg chg="addSp delSp modSp mod">
        <pc:chgData name="Mayank Pandey" userId="a8a487a8b171eb31" providerId="LiveId" clId="{4DDE0F24-3E44-4B7D-BC36-FFCD62ECD69A}" dt="2025-07-28T12:01:23.736" v="35" actId="14100"/>
        <pc:sldMkLst>
          <pc:docMk/>
          <pc:sldMk cId="2534177998" sldId="825"/>
        </pc:sldMkLst>
        <pc:spChg chg="add del mod">
          <ac:chgData name="Mayank Pandey" userId="a8a487a8b171eb31" providerId="LiveId" clId="{4DDE0F24-3E44-4B7D-BC36-FFCD62ECD69A}" dt="2025-07-28T11:57:25.734" v="1" actId="21"/>
          <ac:spMkLst>
            <pc:docMk/>
            <pc:sldMk cId="2534177998" sldId="825"/>
            <ac:spMk id="4" creationId="{17E070AD-7102-8FE5-4D9E-FC76D4AA9EE3}"/>
          </ac:spMkLst>
        </pc:spChg>
        <pc:spChg chg="add del mod">
          <ac:chgData name="Mayank Pandey" userId="a8a487a8b171eb31" providerId="LiveId" clId="{4DDE0F24-3E44-4B7D-BC36-FFCD62ECD69A}" dt="2025-07-28T11:57:30.249" v="3" actId="21"/>
          <ac:spMkLst>
            <pc:docMk/>
            <pc:sldMk cId="2534177998" sldId="825"/>
            <ac:spMk id="6" creationId="{54FBD984-AAB6-1F2C-CB24-206DC7E7CFDF}"/>
          </ac:spMkLst>
        </pc:spChg>
        <pc:spChg chg="add del mod">
          <ac:chgData name="Mayank Pandey" userId="a8a487a8b171eb31" providerId="LiveId" clId="{4DDE0F24-3E44-4B7D-BC36-FFCD62ECD69A}" dt="2025-07-28T11:57:57.877" v="8"/>
          <ac:spMkLst>
            <pc:docMk/>
            <pc:sldMk cId="2534177998" sldId="825"/>
            <ac:spMk id="8" creationId="{2A4736FE-BD9F-845E-B505-AAE704C60A27}"/>
          </ac:spMkLst>
        </pc:spChg>
        <pc:spChg chg="add del mod">
          <ac:chgData name="Mayank Pandey" userId="a8a487a8b171eb31" providerId="LiveId" clId="{4DDE0F24-3E44-4B7D-BC36-FFCD62ECD69A}" dt="2025-07-28T11:58:40.924" v="13"/>
          <ac:spMkLst>
            <pc:docMk/>
            <pc:sldMk cId="2534177998" sldId="825"/>
            <ac:spMk id="10" creationId="{05DA848D-36B7-24FC-18D0-27C5AABF0C9F}"/>
          </ac:spMkLst>
        </pc:spChg>
        <pc:spChg chg="add del mod">
          <ac:chgData name="Mayank Pandey" userId="a8a487a8b171eb31" providerId="LiveId" clId="{4DDE0F24-3E44-4B7D-BC36-FFCD62ECD69A}" dt="2025-07-28T11:59:25.924" v="19"/>
          <ac:spMkLst>
            <pc:docMk/>
            <pc:sldMk cId="2534177998" sldId="825"/>
            <ac:spMk id="14" creationId="{F7255F23-C5B4-9E35-8D3A-4E3EA39C1781}"/>
          </ac:spMkLst>
        </pc:spChg>
        <pc:spChg chg="add del mod">
          <ac:chgData name="Mayank Pandey" userId="a8a487a8b171eb31" providerId="LiveId" clId="{4DDE0F24-3E44-4B7D-BC36-FFCD62ECD69A}" dt="2025-07-28T11:59:52.641" v="22"/>
          <ac:spMkLst>
            <pc:docMk/>
            <pc:sldMk cId="2534177998" sldId="825"/>
            <ac:spMk id="17" creationId="{1D24B976-359A-746D-78B9-9BCDDFFEEE60}"/>
          </ac:spMkLst>
        </pc:spChg>
        <pc:picChg chg="add del mod">
          <ac:chgData name="Mayank Pandey" userId="a8a487a8b171eb31" providerId="LiveId" clId="{4DDE0F24-3E44-4B7D-BC36-FFCD62ECD69A}" dt="2025-07-28T11:58:43.883" v="14" actId="21"/>
          <ac:picMkLst>
            <pc:docMk/>
            <pc:sldMk cId="2534177998" sldId="825"/>
            <ac:picMk id="12" creationId="{A10FDB5F-E19E-ED52-F6CE-6C30B9DE21DE}"/>
          </ac:picMkLst>
        </pc:picChg>
        <pc:picChg chg="add mod">
          <ac:chgData name="Mayank Pandey" userId="a8a487a8b171eb31" providerId="LiveId" clId="{4DDE0F24-3E44-4B7D-BC36-FFCD62ECD69A}" dt="2025-07-28T11:59:15.789" v="18"/>
          <ac:picMkLst>
            <pc:docMk/>
            <pc:sldMk cId="2534177998" sldId="825"/>
            <ac:picMk id="15" creationId="{A10FDB5F-E19E-ED52-F6CE-6C30B9DE21DE}"/>
          </ac:picMkLst>
        </pc:picChg>
        <pc:picChg chg="del">
          <ac:chgData name="Mayank Pandey" userId="a8a487a8b171eb31" providerId="LiveId" clId="{4DDE0F24-3E44-4B7D-BC36-FFCD62ECD69A}" dt="2025-07-28T11:58:07.312" v="10" actId="21"/>
          <ac:picMkLst>
            <pc:docMk/>
            <pc:sldMk cId="2534177998" sldId="825"/>
            <ac:picMk id="131" creationId="{A10FDB5F-E19E-ED52-F6CE-6C30B9DE21DE}"/>
          </ac:picMkLst>
        </pc:picChg>
        <pc:picChg chg="add del mod">
          <ac:chgData name="Mayank Pandey" userId="a8a487a8b171eb31" providerId="LiveId" clId="{4DDE0F24-3E44-4B7D-BC36-FFCD62ECD69A}" dt="2025-07-28T11:57:37.336" v="5" actId="21"/>
          <ac:picMkLst>
            <pc:docMk/>
            <pc:sldMk cId="2534177998" sldId="825"/>
            <ac:picMk id="133" creationId="{5DAF913E-2852-72B3-3F60-1E81B1615D4E}"/>
          </ac:picMkLst>
        </pc:picChg>
        <pc:picChg chg="del">
          <ac:chgData name="Mayank Pandey" userId="a8a487a8b171eb31" providerId="LiveId" clId="{4DDE0F24-3E44-4B7D-BC36-FFCD62ECD69A}" dt="2025-07-28T11:59:29.048" v="20" actId="21"/>
          <ac:picMkLst>
            <pc:docMk/>
            <pc:sldMk cId="2534177998" sldId="825"/>
            <ac:picMk id="135" creationId="{DB129361-F257-1B13-4A06-7A0BF2756270}"/>
          </ac:picMkLst>
        </pc:picChg>
        <pc:picChg chg="add mod">
          <ac:chgData name="Mayank Pandey" userId="a8a487a8b171eb31" providerId="LiveId" clId="{4DDE0F24-3E44-4B7D-BC36-FFCD62ECD69A}" dt="2025-07-28T12:01:23.736" v="35" actId="14100"/>
          <ac:picMkLst>
            <pc:docMk/>
            <pc:sldMk cId="2534177998" sldId="825"/>
            <ac:picMk id="1026" creationId="{C28DE2E4-0836-5C93-0614-BE1A73130501}"/>
          </ac:picMkLst>
        </pc:picChg>
        <pc:picChg chg="add mod">
          <ac:chgData name="Mayank Pandey" userId="a8a487a8b171eb31" providerId="LiveId" clId="{4DDE0F24-3E44-4B7D-BC36-FFCD62ECD69A}" dt="2025-07-28T12:01:11.175" v="33" actId="14100"/>
          <ac:picMkLst>
            <pc:docMk/>
            <pc:sldMk cId="2534177998" sldId="825"/>
            <ac:picMk id="1028" creationId="{B41D1600-F45D-4834-5BC9-F2309D60BE30}"/>
          </ac:picMkLst>
        </pc:picChg>
        <pc:picChg chg="add mod">
          <ac:chgData name="Mayank Pandey" userId="a8a487a8b171eb31" providerId="LiveId" clId="{4DDE0F24-3E44-4B7D-BC36-FFCD62ECD69A}" dt="2025-07-28T12:00:37.921" v="29" actId="1076"/>
          <ac:picMkLst>
            <pc:docMk/>
            <pc:sldMk cId="2534177998" sldId="825"/>
            <ac:picMk id="1030" creationId="{81CEBC48-720C-3C51-17D6-740DC4B31B75}"/>
          </ac:picMkLst>
        </pc:picChg>
      </pc:sldChg>
      <pc:sldChg chg="addSp delSp modSp new del mod modClrScheme chgLayout">
        <pc:chgData name="Mayank Pandey" userId="a8a487a8b171eb31" providerId="LiveId" clId="{4DDE0F24-3E44-4B7D-BC36-FFCD62ECD69A}" dt="2025-07-29T06:26:52.090" v="57" actId="2696"/>
        <pc:sldMkLst>
          <pc:docMk/>
          <pc:sldMk cId="4174787072" sldId="840"/>
        </pc:sldMkLst>
        <pc:spChg chg="del mod ord">
          <ac:chgData name="Mayank Pandey" userId="a8a487a8b171eb31" providerId="LiveId" clId="{4DDE0F24-3E44-4B7D-BC36-FFCD62ECD69A}" dt="2025-07-29T06:25:09.120" v="37" actId="700"/>
          <ac:spMkLst>
            <pc:docMk/>
            <pc:sldMk cId="4174787072" sldId="840"/>
            <ac:spMk id="2" creationId="{A62D48F8-7135-6373-19F5-7C176D978312}"/>
          </ac:spMkLst>
        </pc:spChg>
        <pc:spChg chg="del">
          <ac:chgData name="Mayank Pandey" userId="a8a487a8b171eb31" providerId="LiveId" clId="{4DDE0F24-3E44-4B7D-BC36-FFCD62ECD69A}" dt="2025-07-29T06:25:09.120" v="37" actId="700"/>
          <ac:spMkLst>
            <pc:docMk/>
            <pc:sldMk cId="4174787072" sldId="840"/>
            <ac:spMk id="3" creationId="{AF4D91AC-EE0D-AED8-C664-AAC79426CEC8}"/>
          </ac:spMkLst>
        </pc:spChg>
        <pc:spChg chg="del mod ord">
          <ac:chgData name="Mayank Pandey" userId="a8a487a8b171eb31" providerId="LiveId" clId="{4DDE0F24-3E44-4B7D-BC36-FFCD62ECD69A}" dt="2025-07-29T06:25:09.120" v="37" actId="700"/>
          <ac:spMkLst>
            <pc:docMk/>
            <pc:sldMk cId="4174787072" sldId="840"/>
            <ac:spMk id="4" creationId="{B00294B5-9409-6998-961E-47BC693249DF}"/>
          </ac:spMkLst>
        </pc:spChg>
        <pc:spChg chg="del">
          <ac:chgData name="Mayank Pandey" userId="a8a487a8b171eb31" providerId="LiveId" clId="{4DDE0F24-3E44-4B7D-BC36-FFCD62ECD69A}" dt="2025-07-29T06:25:09.120" v="37" actId="700"/>
          <ac:spMkLst>
            <pc:docMk/>
            <pc:sldMk cId="4174787072" sldId="840"/>
            <ac:spMk id="5" creationId="{DA9F80AF-03E3-56C2-CFEC-F080CED62F12}"/>
          </ac:spMkLst>
        </pc:spChg>
        <pc:spChg chg="del">
          <ac:chgData name="Mayank Pandey" userId="a8a487a8b171eb31" providerId="LiveId" clId="{4DDE0F24-3E44-4B7D-BC36-FFCD62ECD69A}" dt="2025-07-29T06:25:09.120" v="37" actId="700"/>
          <ac:spMkLst>
            <pc:docMk/>
            <pc:sldMk cId="4174787072" sldId="840"/>
            <ac:spMk id="6" creationId="{95732B76-9369-EE6C-F43C-E89C36DF6D26}"/>
          </ac:spMkLst>
        </pc:spChg>
        <pc:spChg chg="add mod ord">
          <ac:chgData name="Mayank Pandey" userId="a8a487a8b171eb31" providerId="LiveId" clId="{4DDE0F24-3E44-4B7D-BC36-FFCD62ECD69A}" dt="2025-07-29T06:25:29.114" v="56" actId="207"/>
          <ac:spMkLst>
            <pc:docMk/>
            <pc:sldMk cId="4174787072" sldId="840"/>
            <ac:spMk id="7" creationId="{D84CE39E-7113-6413-BDEC-F8668D6579B9}"/>
          </ac:spMkLst>
        </pc:spChg>
        <pc:spChg chg="add mod ord">
          <ac:chgData name="Mayank Pandey" userId="a8a487a8b171eb31" providerId="LiveId" clId="{4DDE0F24-3E44-4B7D-BC36-FFCD62ECD69A}" dt="2025-07-29T06:25:09.120" v="37" actId="700"/>
          <ac:spMkLst>
            <pc:docMk/>
            <pc:sldMk cId="4174787072" sldId="840"/>
            <ac:spMk id="8" creationId="{B8D76723-DF38-5A14-1025-B08FB3E8D03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421010-3731-422F-8CF1-CD47B2D7C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56080-143A-4905-932A-5C7754887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20ABC-E11D-42B4-A428-76B2C5BC0052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9276-DB8D-43B4-8029-4A695209B9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27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EED04-A4F0-49ED-B42E-211B56474E8D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20CB7-DCA5-4E5B-97F1-300CDD8D2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1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48351"/>
            <a:ext cx="10515600" cy="762338"/>
          </a:xfrm>
        </p:spPr>
        <p:txBody>
          <a:bodyPr>
            <a:normAutofit/>
          </a:bodyPr>
          <a:lstStyle>
            <a:lvl1pPr algn="ctr">
              <a:defRPr sz="1800" b="1" cap="all" spc="60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1500" y="1500330"/>
            <a:ext cx="3429000" cy="3255264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8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3784" y="1017127"/>
            <a:ext cx="3259239" cy="638050"/>
          </a:xfrm>
        </p:spPr>
        <p:txBody>
          <a:bodyPr tIns="0" bIns="0" anchor="b">
            <a:normAutofit/>
          </a:bodyPr>
          <a:lstStyle>
            <a:lvl1pPr algn="l">
              <a:lnSpc>
                <a:spcPct val="7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C420D7-C2DD-AA2E-0967-246BCAC712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3784" y="1667337"/>
            <a:ext cx="3259138" cy="1635155"/>
          </a:xfrm>
        </p:spPr>
        <p:txBody>
          <a:bodyPr tIns="0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6643" y="-1"/>
            <a:ext cx="6146157" cy="3452149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CA433-95E2-FC02-373D-296793B7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59533" y="1"/>
            <a:ext cx="1232467" cy="34521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734D26-5CDD-1D72-F4F5-4E8F2E8A7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52149"/>
            <a:ext cx="1232467" cy="34058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6049" y="3452149"/>
            <a:ext cx="6146157" cy="3423213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8165" y="3831219"/>
            <a:ext cx="2719830" cy="2638706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13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1999" cy="1649977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012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012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FEE9A33-86BC-1ACB-FD12-3D125D7AC6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6752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752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4C8324F-73B9-5F50-2F8B-86B0683A4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046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83046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0371E6D-BAFA-5426-4D03-3E4D6EA4E0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8563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8563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D35E594-AF24-811C-7ECB-E0BC86C3A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407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407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182880" tIns="0" rIns="18288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ED80DC6-E45B-98F5-D668-F7E0728080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33104" y="4942244"/>
            <a:ext cx="3345083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74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706FB3F8-975F-CDE6-AD5A-41A6C4AEFA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011" y="1204943"/>
            <a:ext cx="10252763" cy="356556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838306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504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168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Chart Placeholder 23">
            <a:extLst>
              <a:ext uri="{FF2B5EF4-FFF2-40B4-BE49-F238E27FC236}">
                <a16:creationId xmlns:a16="http://schemas.microsoft.com/office/drawing/2014/main" id="{EAFEEDA8-9219-BD40-C230-E92998E15A23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025009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920430E8-C9E5-7571-B3E8-A14938C6E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5617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55280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Chart Placeholder 23">
            <a:extLst>
              <a:ext uri="{FF2B5EF4-FFF2-40B4-BE49-F238E27FC236}">
                <a16:creationId xmlns:a16="http://schemas.microsoft.com/office/drawing/2014/main" id="{9C9FDEE4-E778-B309-F78A-B097A62D3B1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216862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3608-9448-F8A1-E942-E798931A98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06729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6392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Chart Placeholder 23">
            <a:extLst>
              <a:ext uri="{FF2B5EF4-FFF2-40B4-BE49-F238E27FC236}">
                <a16:creationId xmlns:a16="http://schemas.microsoft.com/office/drawing/2014/main" id="{4B5D9EAC-E1E4-971C-4DCF-F4BA495E30D6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7403565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052DFEB-4583-7D49-EB81-F63A70289A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97841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37504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Chart Placeholder 23">
            <a:extLst>
              <a:ext uri="{FF2B5EF4-FFF2-40B4-BE49-F238E27FC236}">
                <a16:creationId xmlns:a16="http://schemas.microsoft.com/office/drawing/2014/main" id="{8D104B7B-2C5C-79FE-3E90-69E9EE2BD36B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9602753" y="1692604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0F91EA5-D9F1-14B5-2383-469320ED89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88952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8615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18570" y="3865563"/>
            <a:ext cx="10186205" cy="224631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63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188" y="1806487"/>
            <a:ext cx="493262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2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26F2423-DF97-D100-BE6D-29D9EE15B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9613" y="2821450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51312" y="2809756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768E93BF-5DA7-33DE-7DBC-0C6057C3B3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39613" y="3437926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51312" y="3418079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AFC2E8B1-029D-44E0-1893-3916B100601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39613" y="4054403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1312" y="4026402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-1"/>
            <a:ext cx="609600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5243332"/>
            <a:ext cx="6095999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1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328" y="309448"/>
            <a:ext cx="3231145" cy="484632"/>
          </a:xfrm>
        </p:spPr>
        <p:txBody>
          <a:bodyPr tIns="0" bIns="0" anchor="b">
            <a:normAutofit/>
          </a:bodyPr>
          <a:lstStyle>
            <a:lvl1pPr algn="l">
              <a:lnSpc>
                <a:spcPct val="100000"/>
              </a:lnSpc>
              <a:defRPr sz="1800" b="1" cap="none" spc="0" normalizeH="0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4329" y="883387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3081" y="-11683"/>
            <a:ext cx="4114801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71414F8-DD91-4BEB-BD17-D9C191E066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1175" y="245774"/>
            <a:ext cx="307206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DA3D7EC-7E91-837C-0F5C-2FA02822C2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1174" y="906920"/>
            <a:ext cx="3056497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403EF5D-5D5E-DB9C-1AA6-6C838DA9DC1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-22804" y="3428237"/>
            <a:ext cx="4065886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E66A002-611A-AC3C-3354-FC6A8B8807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8700" y="3730892"/>
            <a:ext cx="323931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5D8040-D0AA-C720-C6C4-6B23368CD0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38700" y="4417990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2DD639C-33DD-1ACB-4F21-BE087163AE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168042" y="3428237"/>
            <a:ext cx="4034118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5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8494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68507" y="1466591"/>
            <a:ext cx="10054988" cy="118516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068504" y="3109249"/>
            <a:ext cx="10054990" cy="2907792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accent1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8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31542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58347" y="1446271"/>
            <a:ext cx="10049920" cy="435453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A52954E-7826-2F3E-37FB-F67D5971E4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4274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3D09183F-8234-58F5-2CE4-5D000BF72EA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44747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E530913-6A7A-CB72-87E9-5D3ADD650B0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75221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548FF31E-A9C5-CFCF-43B0-5EF275D7402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5694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900F4E96-BF95-1386-47A4-D14CEB09D8E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61679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17">
            <a:extLst>
              <a:ext uri="{FF2B5EF4-FFF2-40B4-BE49-F238E27FC236}">
                <a16:creationId xmlns:a16="http://schemas.microsoft.com/office/drawing/2014/main" id="{E91EF67B-B01F-400D-2DC2-79A748E2A60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35393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17">
            <a:extLst>
              <a:ext uri="{FF2B5EF4-FFF2-40B4-BE49-F238E27FC236}">
                <a16:creationId xmlns:a16="http://schemas.microsoft.com/office/drawing/2014/main" id="{B320C6BD-6887-1B30-627B-0AB6029E8F5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658665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9B504DC8-6E54-98FA-2461-72B7340F586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6340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0C21A6A4-EB4D-A0D0-56D0-93FB0E749A1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05507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DB72A218-DAC1-2261-C0A3-B0767FD2FA0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35980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C3CF0080-9BDB-00BA-29B2-9174EE3C411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6454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C6A1C08D-7BF4-5FAF-C2FF-AE5047518A0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96927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BA44657A-8B86-EA70-6560-03FEB781F9E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274012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7">
            <a:extLst>
              <a:ext uri="{FF2B5EF4-FFF2-40B4-BE49-F238E27FC236}">
                <a16:creationId xmlns:a16="http://schemas.microsoft.com/office/drawing/2014/main" id="{8CED7DAF-DABA-4DFF-4526-79601E7E45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578746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7">
            <a:extLst>
              <a:ext uri="{FF2B5EF4-FFF2-40B4-BE49-F238E27FC236}">
                <a16:creationId xmlns:a16="http://schemas.microsoft.com/office/drawing/2014/main" id="{DE375DAB-B8B1-7BFE-421A-2576642D0DB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883481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7">
            <a:extLst>
              <a:ext uri="{FF2B5EF4-FFF2-40B4-BE49-F238E27FC236}">
                <a16:creationId xmlns:a16="http://schemas.microsoft.com/office/drawing/2014/main" id="{1DC92198-D94C-7632-19D2-3D84CBD1BCB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88215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7">
            <a:extLst>
              <a:ext uri="{FF2B5EF4-FFF2-40B4-BE49-F238E27FC236}">
                <a16:creationId xmlns:a16="http://schemas.microsoft.com/office/drawing/2014/main" id="{ADE4906C-8781-3D55-6709-40134F528A7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540305" y="4547853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17">
            <a:extLst>
              <a:ext uri="{FF2B5EF4-FFF2-40B4-BE49-F238E27FC236}">
                <a16:creationId xmlns:a16="http://schemas.microsoft.com/office/drawing/2014/main" id="{5A09A8A3-44A8-3DBC-2A4E-C534BD04394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05526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AF3FD113-A1D1-4EEF-7A6A-8D911FEFCA3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35999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17">
            <a:extLst>
              <a:ext uri="{FF2B5EF4-FFF2-40B4-BE49-F238E27FC236}">
                <a16:creationId xmlns:a16="http://schemas.microsoft.com/office/drawing/2014/main" id="{DBF1041A-E533-7269-1C16-B8F07C39D0A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66473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17">
            <a:extLst>
              <a:ext uri="{FF2B5EF4-FFF2-40B4-BE49-F238E27FC236}">
                <a16:creationId xmlns:a16="http://schemas.microsoft.com/office/drawing/2014/main" id="{723620E9-23D5-45A7-B061-9B5BA0AB817B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996946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0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857" y="2705755"/>
            <a:ext cx="3561986" cy="144649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56CA8-AE7D-1692-CD03-8052B79B4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16358"/>
            <a:ext cx="7354442" cy="689071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6197"/>
            <a:ext cx="78231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54040" y="-10160"/>
            <a:ext cx="308626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66191" y="52657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D2E0A3-3A4D-815C-8C07-8058D5694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41558" y="110150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B5590F9-2D9B-7EF7-DD7B-0088DB0B18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191" y="113821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13E55D8-560B-DF34-B34D-E3A21C43BB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9328" y="283105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A5A1F2-505F-747B-818F-CBE5074E2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94695" y="340598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063E3D4-FEB7-9BB5-B22D-843990911C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19328" y="344269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E713C15-6491-75F6-6A03-ECBBB2597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7560" y="2259981"/>
            <a:ext cx="3042920" cy="233742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00ACF-978B-E5F8-58B9-878278B3D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60480" y="2270140"/>
            <a:ext cx="727584" cy="23368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8A96B4-52C5-47DA-6BD6-050647AEB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6961" y="4599322"/>
            <a:ext cx="77707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66AD3C9-51DF-968B-BDFA-A072D79E69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54040" y="4596782"/>
            <a:ext cx="307610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6BE9D1C-5464-1BB4-DD8F-40B27F9E7E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57280" y="5261360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8A1D00-787E-E601-743F-F3A607B90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32647" y="5836289"/>
            <a:ext cx="16199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F9E3A6-F6B7-CCAC-D810-CD47EB1C5D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57280" y="5872995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2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9510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85A36-9B2E-CD52-C188-43035C62D7D2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22350" y="1584960"/>
            <a:ext cx="10146806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3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908" y="368658"/>
            <a:ext cx="6228732" cy="83022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0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3906" y="1430936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2619741-BE88-A22C-6A3B-780557621A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906" y="2029538"/>
            <a:ext cx="6228732" cy="109076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3906" y="3218958"/>
            <a:ext cx="6228732" cy="344009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9F0960D-533E-D280-6096-A2F8BAC7AE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3906" y="3640657"/>
            <a:ext cx="6228732" cy="344009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3906" y="4073211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1BF306D-A7D8-5086-F014-05405FA67D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906" y="4675595"/>
            <a:ext cx="6228732" cy="1154882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6560" y="-1"/>
            <a:ext cx="415544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36559" y="5243332"/>
            <a:ext cx="4155440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2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222" y="2247391"/>
            <a:ext cx="4434840" cy="762338"/>
          </a:xfrm>
          <a:noFill/>
        </p:spPr>
        <p:txBody>
          <a:bodyPr>
            <a:normAutofit/>
          </a:bodyPr>
          <a:lstStyle>
            <a:lvl1pPr algn="l">
              <a:defRPr sz="48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16380" y="1730247"/>
            <a:ext cx="3657600" cy="347228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810CE0D-B662-5180-72B1-8363C2E1BD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7222" y="3258237"/>
            <a:ext cx="4434840" cy="368884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92BFD6-74C7-2D2A-4F93-95F4341BAB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67222" y="3748147"/>
            <a:ext cx="4434840" cy="1454381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 b="1" cap="none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62675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A29B-5AE9-CB8D-8A2B-144DBB8BCB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43" y="365125"/>
            <a:ext cx="11100126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432AB-307E-C133-AB03-5B6286B22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1DDF95-5C6A-BFC2-3D73-E19530C8D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09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10000"/>
            <a:lumOff val="9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52378-33F3-9133-FF97-6EFCBD42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B6496-C09F-CF62-3B1A-8BD3AB12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F26F1-942C-E394-D4F4-E2C72E857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9C0C1-EE54-4EF7-BCC6-9C36988C399C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6F9A7-A5DA-8EAD-6359-9316AC522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9CBAD-9F11-FF8A-5CB4-6C8682861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F588F-3268-487C-BB05-403E3E2B4B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1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le of coffee beans">
            <a:extLst>
              <a:ext uri="{FF2B5EF4-FFF2-40B4-BE49-F238E27FC236}">
                <a16:creationId xmlns:a16="http://schemas.microsoft.com/office/drawing/2014/main" id="{27EDE37F-A91F-2CE5-7176-FA96308E994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B9E7D9B-9F62-FD23-417A-4C9F4936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8351"/>
            <a:ext cx="10515600" cy="762338"/>
          </a:xfrm>
        </p:spPr>
        <p:txBody>
          <a:bodyPr/>
          <a:lstStyle/>
          <a:p>
            <a:r>
              <a:rPr lang="en-US" dirty="0"/>
              <a:t>Raamya Pandey </a:t>
            </a:r>
            <a:br>
              <a:rPr lang="en-US" dirty="0"/>
            </a:br>
            <a:r>
              <a:rPr lang="en-US" dirty="0"/>
              <a:t>(</a:t>
            </a:r>
            <a:r>
              <a:rPr lang="en-IN" dirty="0"/>
              <a:t>BMAI-C-WD-E-B12)</a:t>
            </a:r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5844AC7-E488-709F-E66B-3FB7077D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2658" y="1247311"/>
            <a:ext cx="8986684" cy="3311133"/>
          </a:xfrm>
          <a:prstGeom prst="ellipse">
            <a:avLst/>
          </a:prstGeom>
          <a:noFill/>
          <a:ln w="152400" cap="flat">
            <a:solidFill>
              <a:schemeClr val="accent3">
                <a:lumMod val="10000"/>
                <a:lumOff val="9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FD20B-4BAA-4FD3-7D4B-B2E9B34D31C8}"/>
              </a:ext>
            </a:extLst>
          </p:cNvPr>
          <p:cNvSpPr txBox="1"/>
          <p:nvPr/>
        </p:nvSpPr>
        <p:spPr>
          <a:xfrm>
            <a:off x="2802193" y="2210379"/>
            <a:ext cx="65876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200" b="1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Audit &amp; Analysis for Effective Digital Presence</a:t>
            </a:r>
          </a:p>
        </p:txBody>
      </p:sp>
    </p:spTree>
    <p:extLst>
      <p:ext uri="{BB962C8B-B14F-4D97-AF65-F5344CB8AC3E}">
        <p14:creationId xmlns:p14="http://schemas.microsoft.com/office/powerpoint/2010/main" val="3958848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AE35B9-E0B3-50E8-2F1B-73A4E3E2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76" y="428493"/>
            <a:ext cx="4653024" cy="638050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chemeClr val="accent3"/>
                </a:solidFill>
              </a:rPr>
              <a:t>Company</a:t>
            </a:r>
            <a:r>
              <a:rPr lang="en-IN" sz="2800" dirty="0"/>
              <a:t> </a:t>
            </a:r>
            <a:r>
              <a:rPr lang="en-IN" sz="2800" dirty="0">
                <a:solidFill>
                  <a:schemeClr val="accent3"/>
                </a:solidFill>
              </a:rPr>
              <a:t>Overview</a:t>
            </a:r>
            <a:endParaRPr lang="en-US" sz="2800" dirty="0">
              <a:solidFill>
                <a:schemeClr val="accent3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502D2-3299-9E3D-BBCA-A672F7F15A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76" y="1291380"/>
            <a:ext cx="4652922" cy="869386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accent2"/>
                </a:solidFill>
              </a:rPr>
              <a:t>Hashmato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3EAB8EC-D2F4-0861-F661-E81208B5C6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7818" y="3831219"/>
            <a:ext cx="4060723" cy="263870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Started as Dineplan in 2008, rebranded to Hashmato in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Offers POS &amp; Retail Software for restaurants and retail businesses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name “Hashmato” = Health + Tomato 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Used in 2000+ locations across India, Singapore, Dubai &amp; Myanmar</a:t>
            </a:r>
          </a:p>
        </p:txBody>
      </p:sp>
      <p:pic>
        <p:nvPicPr>
          <p:cNvPr id="1026" name="Picture 2" descr="a table topped with lots of plates of food">
            <a:extLst>
              <a:ext uri="{FF2B5EF4-FFF2-40B4-BE49-F238E27FC236}">
                <a16:creationId xmlns:a16="http://schemas.microsoft.com/office/drawing/2014/main" id="{B73CB9B6-D698-C062-6CFE-54603D3DD09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1" b="787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lack mortar and pestle beside brown box in top view photography">
            <a:extLst>
              <a:ext uri="{FF2B5EF4-FFF2-40B4-BE49-F238E27FC236}">
                <a16:creationId xmlns:a16="http://schemas.microsoft.com/office/drawing/2014/main" id="{501894EE-D60B-9967-9005-DC5EFBB77048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2" b="790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258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3D829F73-8F0A-38E3-8433-E883EF2D4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What Hashmato Offers :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2C4A24E5-54B2-C3DC-2F99-23F4A586CE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22350" y="1584960"/>
            <a:ext cx="10146806" cy="2574085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POS billing, Inventory, Table &amp; Order Management</a:t>
            </a:r>
          </a:p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Works on cloud, mobile, tablets – even offline</a:t>
            </a:r>
          </a:p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Extra features: Multilingual, CRM, loyalty programs, kiosk ordering</a:t>
            </a:r>
          </a:p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Integrates with UberEats, QuickBooks, WhatsApp alerts etc.</a:t>
            </a:r>
          </a:p>
        </p:txBody>
      </p:sp>
      <p:pic>
        <p:nvPicPr>
          <p:cNvPr id="2054" name="Picture 6" descr="brown-themed bar">
            <a:extLst>
              <a:ext uri="{FF2B5EF4-FFF2-40B4-BE49-F238E27FC236}">
                <a16:creationId xmlns:a16="http://schemas.microsoft.com/office/drawing/2014/main" id="{66A16AFA-6A8A-A3CB-97D1-75CFFE116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617" y="4460240"/>
            <a:ext cx="3332480" cy="177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wo person sitting on bar stool chair in front of bar front desk">
            <a:extLst>
              <a:ext uri="{FF2B5EF4-FFF2-40B4-BE49-F238E27FC236}">
                <a16:creationId xmlns:a16="http://schemas.microsoft.com/office/drawing/2014/main" id="{DC3E71C1-9F25-C334-92CB-46D4BB81F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696" y="4460239"/>
            <a:ext cx="3432687" cy="177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76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A45B67E-933A-91A0-6BDC-960424431A2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3857" y="3383601"/>
            <a:ext cx="2577768" cy="642687"/>
          </a:xfrm>
        </p:spPr>
        <p:txBody>
          <a:bodyPr/>
          <a:lstStyle/>
          <a:p>
            <a:r>
              <a:rPr lang="en-US" dirty="0"/>
              <a:t>Targets</a:t>
            </a:r>
            <a:endParaRPr lang="en-IN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4BD5A7C-E4BD-88C3-B0B6-4CE5BA8622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857" y="4039211"/>
            <a:ext cx="2577769" cy="1958463"/>
          </a:xfrm>
        </p:spPr>
        <p:txBody>
          <a:bodyPr>
            <a:normAutofit/>
          </a:bodyPr>
          <a:lstStyle/>
          <a:p>
            <a:r>
              <a:rPr lang="en-US" sz="2000" dirty="0"/>
              <a:t>Restaurants, Cafes, QSRs, Bakeries, Cloud Kitchens</a:t>
            </a:r>
            <a:endParaRPr lang="en-IN" sz="20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548A15B-64C4-FAD3-F10F-943519D4DC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47168" y="3386754"/>
            <a:ext cx="2674509" cy="642687"/>
          </a:xfrm>
        </p:spPr>
        <p:txBody>
          <a:bodyPr/>
          <a:lstStyle/>
          <a:p>
            <a:r>
              <a:rPr lang="en-US" dirty="0"/>
              <a:t>Active on</a:t>
            </a:r>
            <a:endParaRPr lang="en-IN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FCA27CC-1B27-2BD1-62B0-EA79D60B90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7168" y="4026289"/>
            <a:ext cx="2674509" cy="1971387"/>
          </a:xfrm>
        </p:spPr>
        <p:txBody>
          <a:bodyPr>
            <a:normAutofit/>
          </a:bodyPr>
          <a:lstStyle/>
          <a:p>
            <a:r>
              <a:rPr lang="en-US" sz="2000" dirty="0"/>
              <a:t>Website, LinkedIn, Blogs, Case Studies</a:t>
            </a:r>
            <a:endParaRPr lang="en-IN" sz="200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5CF574B-6BBC-98B2-0B8C-E2C64C83A35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80207" y="3383602"/>
            <a:ext cx="2482932" cy="642687"/>
          </a:xfrm>
        </p:spPr>
        <p:txBody>
          <a:bodyPr>
            <a:normAutofit/>
          </a:bodyPr>
          <a:lstStyle/>
          <a:p>
            <a:r>
              <a:rPr lang="en-IN" dirty="0"/>
              <a:t>Outreach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6759962-4C15-166A-466F-BFCBBEF592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80206" y="4039212"/>
            <a:ext cx="2482931" cy="1958463"/>
          </a:xfrm>
        </p:spPr>
        <p:txBody>
          <a:bodyPr>
            <a:normAutofit/>
          </a:bodyPr>
          <a:lstStyle/>
          <a:p>
            <a:r>
              <a:rPr lang="en-US" sz="2000" dirty="0"/>
              <a:t>Uses both online &amp; offline channels to connect with B2B customers</a:t>
            </a:r>
            <a:endParaRPr lang="en-IN" sz="2000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E75EC17-F3F9-6D89-0795-76666FF1500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1625" y="2212278"/>
            <a:ext cx="5358581" cy="642687"/>
          </a:xfrm>
        </p:spPr>
        <p:txBody>
          <a:bodyPr/>
          <a:lstStyle/>
          <a:p>
            <a:r>
              <a:rPr lang="en-IN" dirty="0"/>
              <a:t>Digital Presence &amp; Audience</a:t>
            </a:r>
          </a:p>
        </p:txBody>
      </p:sp>
      <p:pic>
        <p:nvPicPr>
          <p:cNvPr id="3074" name="Picture 2" descr="turned-on canopy lights">
            <a:extLst>
              <a:ext uri="{FF2B5EF4-FFF2-40B4-BE49-F238E27FC236}">
                <a16:creationId xmlns:a16="http://schemas.microsoft.com/office/drawing/2014/main" id="{1CD20D1D-ED00-1870-F85D-DC1D6F0778E6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54" b="39854"/>
          <a:stretch>
            <a:fillRect/>
          </a:stretch>
        </p:blipFill>
        <p:spPr bwMode="auto">
          <a:xfrm>
            <a:off x="0" y="0"/>
            <a:ext cx="12191999" cy="191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">
            <a:extLst>
              <a:ext uri="{FF2B5EF4-FFF2-40B4-BE49-F238E27FC236}">
                <a16:creationId xmlns:a16="http://schemas.microsoft.com/office/drawing/2014/main" id="{8C431800-7AD6-4995-871D-F7E05621E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Outreach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0F8CA329-7242-1DC8-DA61-224DB7157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Outreach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1C9D222F-5F37-0F2D-53A6-29316A13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Outreach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049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CEFF4-FC89-DA7B-633A-BB49112EF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404" y="296300"/>
            <a:ext cx="7185112" cy="98189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Website Audit – Design</a:t>
            </a:r>
          </a:p>
        </p:txBody>
      </p:sp>
      <p:pic>
        <p:nvPicPr>
          <p:cNvPr id="4098" name="Picture 2" descr="a white plate topped with a salad on top of a table">
            <a:extLst>
              <a:ext uri="{FF2B5EF4-FFF2-40B4-BE49-F238E27FC236}">
                <a16:creationId xmlns:a16="http://schemas.microsoft.com/office/drawing/2014/main" id="{527C7611-5753-BEC7-0CD6-C97AA5DB9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9" y="378471"/>
            <a:ext cx="1021939" cy="81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A4EC5A-35C7-ACD7-9B71-E49F3A8B89E9}"/>
              </a:ext>
            </a:extLst>
          </p:cNvPr>
          <p:cNvSpPr txBox="1"/>
          <p:nvPr/>
        </p:nvSpPr>
        <p:spPr>
          <a:xfrm>
            <a:off x="1278196" y="1838632"/>
            <a:ext cx="4365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Good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Clean layout and calming colors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Consistent brand feel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Works well on desktop and mobile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2AFFC-FA4E-3808-2CD8-AD4C4C2F3D4D}"/>
              </a:ext>
            </a:extLst>
          </p:cNvPr>
          <p:cNvSpPr txBox="1"/>
          <p:nvPr/>
        </p:nvSpPr>
        <p:spPr>
          <a:xfrm>
            <a:off x="5948514" y="1838632"/>
            <a:ext cx="49947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Needs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Slow loading due to large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Some text is small or hard to 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CTAs/buttons not always visible on scroll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A4FD18-FE46-2D0E-09A3-3FA689214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122" y="4325681"/>
            <a:ext cx="4030838" cy="19545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30CB20-1CDF-0624-C54E-83B426469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323" y="4188026"/>
            <a:ext cx="4167064" cy="209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60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16A0D5-5CB6-A442-D8E1-2E8287B98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70" y="3478223"/>
            <a:ext cx="3231145" cy="48463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User Experience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016A63-BEE3-F549-DAB9-1A45DE921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412" y="4231967"/>
            <a:ext cx="3227060" cy="2199311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Easy to navigate, mobile-friendly</a:t>
            </a:r>
          </a:p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Simple checkout, but missing trust badges</a:t>
            </a:r>
          </a:p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ALT text missing in some images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F7D55444-7D69-3A11-24C1-E11C181B50C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804393" y="3448242"/>
            <a:ext cx="3072064" cy="53822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SEO Insights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FCB2D14-EEDB-8903-0FF1-E4FB518C09E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19960" y="4231966"/>
            <a:ext cx="3056497" cy="2199311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Meta titles and H1 used well</a:t>
            </a:r>
          </a:p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Needs keyword improvement</a:t>
            </a:r>
          </a:p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FCP = 3.6s (should be &lt; 2s), TBT = 400ms (should be &lt; 200ms)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36CB5A1-25E4-7026-DACC-DF2E3807707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63845" y="983227"/>
            <a:ext cx="3251812" cy="99416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accent2"/>
                </a:solidFill>
              </a:rPr>
              <a:t>Website Audit </a:t>
            </a:r>
          </a:p>
          <a:p>
            <a:pPr algn="ctr"/>
            <a:r>
              <a:rPr lang="en-US" sz="3200" dirty="0">
                <a:solidFill>
                  <a:schemeClr val="accent2"/>
                </a:solidFill>
              </a:rPr>
              <a:t>( UX &amp; SEO)</a:t>
            </a:r>
          </a:p>
        </p:txBody>
      </p:sp>
      <p:pic>
        <p:nvPicPr>
          <p:cNvPr id="1026" name="Picture 2" descr="white casserole with gray spoon on black surface">
            <a:extLst>
              <a:ext uri="{FF2B5EF4-FFF2-40B4-BE49-F238E27FC236}">
                <a16:creationId xmlns:a16="http://schemas.microsoft.com/office/drawing/2014/main" id="{C28DE2E4-0836-5C93-0614-BE1A73130501}"/>
              </a:ext>
            </a:extLst>
          </p:cNvPr>
          <p:cNvPicPr>
            <a:picLocks noGrp="1" noChangeAspect="1" noChangeArrowheads="1"/>
          </p:cNvPicPr>
          <p:nvPr>
            <p:ph type="pic" sz="quarter" idx="2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7" b="21757"/>
          <a:stretch>
            <a:fillRect/>
          </a:stretch>
        </p:blipFill>
        <p:spPr bwMode="auto">
          <a:xfrm>
            <a:off x="-13354" y="-11782"/>
            <a:ext cx="4086185" cy="346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rson pouring flour on table beside eggs and whisk">
            <a:extLst>
              <a:ext uri="{FF2B5EF4-FFF2-40B4-BE49-F238E27FC236}">
                <a16:creationId xmlns:a16="http://schemas.microsoft.com/office/drawing/2014/main" id="{B41D1600-F45D-4834-5BC9-F2309D60BE30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9" b="16559"/>
          <a:stretch>
            <a:fillRect/>
          </a:stretch>
        </p:blipFill>
        <p:spPr bwMode="auto">
          <a:xfrm>
            <a:off x="8106668" y="-30354"/>
            <a:ext cx="4094203" cy="347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erson pouring seasonings on clear glass bowl">
            <a:extLst>
              <a:ext uri="{FF2B5EF4-FFF2-40B4-BE49-F238E27FC236}">
                <a16:creationId xmlns:a16="http://schemas.microsoft.com/office/drawing/2014/main" id="{81CEBC48-720C-3C51-17D6-740DC4B31B75}"/>
              </a:ext>
            </a:extLst>
          </p:cNvPr>
          <p:cNvPicPr>
            <a:picLocks noGrp="1" noChangeAspect="1" noChangeArrowheads="1"/>
          </p:cNvPicPr>
          <p:nvPr>
            <p:ph type="pic" sz="quarter" idx="3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3" b="21573"/>
          <a:stretch>
            <a:fillRect/>
          </a:stretch>
        </p:blipFill>
        <p:spPr bwMode="auto">
          <a:xfrm>
            <a:off x="4072832" y="3428331"/>
            <a:ext cx="4033837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177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059E-33D4-431D-C005-D8AA76349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153" y="441008"/>
            <a:ext cx="6976942" cy="63805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2"/>
                </a:solidFill>
              </a:rPr>
              <a:t>SEO – Key Fixes Suggested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80648CD1-655A-9739-A66F-01A374F62EC8}"/>
              </a:ext>
            </a:extLst>
          </p:cNvPr>
          <p:cNvGraphicFramePr>
            <a:graphicFrameLocks noGrp="1"/>
          </p:cNvGraphicFramePr>
          <p:nvPr>
            <p:ph type="tbl" sz="quarter" idx="24"/>
            <p:extLst>
              <p:ext uri="{D42A27DB-BD31-4B8C-83A1-F6EECF244321}">
                <p14:modId xmlns:p14="http://schemas.microsoft.com/office/powerpoint/2010/main" val="3400053925"/>
              </p:ext>
            </p:extLst>
          </p:nvPr>
        </p:nvGraphicFramePr>
        <p:xfrm>
          <a:off x="952012" y="1730477"/>
          <a:ext cx="10055224" cy="43674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27612">
                  <a:extLst>
                    <a:ext uri="{9D8B030D-6E8A-4147-A177-3AD203B41FA5}">
                      <a16:colId xmlns:a16="http://schemas.microsoft.com/office/drawing/2014/main" val="2257415428"/>
                    </a:ext>
                  </a:extLst>
                </a:gridCol>
                <a:gridCol w="5027612">
                  <a:extLst>
                    <a:ext uri="{9D8B030D-6E8A-4147-A177-3AD203B41FA5}">
                      <a16:colId xmlns:a16="http://schemas.microsoft.com/office/drawing/2014/main" val="596151062"/>
                    </a:ext>
                  </a:extLst>
                </a:gridCol>
              </a:tblGrid>
              <a:tr h="1086465"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  <a:p>
                      <a:pPr algn="ctr"/>
                      <a:endParaRPr lang="en-IN" sz="1800" dirty="0"/>
                    </a:p>
                    <a:p>
                      <a:pPr algn="ctr"/>
                      <a:r>
                        <a:rPr lang="en-IN" sz="2800" dirty="0"/>
                        <a:t>What’s Working</a:t>
                      </a:r>
                      <a:endParaRPr lang="en-IN" sz="2800" dirty="0"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  <a:p>
                      <a:pPr algn="ctr"/>
                      <a:endParaRPr lang="en-IN" sz="1800" dirty="0"/>
                    </a:p>
                    <a:p>
                      <a:pPr algn="ctr"/>
                      <a:r>
                        <a:rPr lang="en-IN" sz="2800" dirty="0"/>
                        <a:t>What to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279967"/>
                  </a:ext>
                </a:extLst>
              </a:tr>
              <a:tr h="1086465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IN" sz="2400" dirty="0"/>
                        <a:t>HTTPS secure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US" sz="2400" dirty="0"/>
                        <a:t>Add ALT text to all images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293896"/>
                  </a:ext>
                </a:extLst>
              </a:tr>
              <a:tr h="1086465"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pPr algn="ctr"/>
                      <a:r>
                        <a:rPr lang="en-IN" sz="2400" dirty="0"/>
                        <a:t>Mobile-friendly test 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IN" sz="2400" dirty="0"/>
                        <a:t>Write keyword-rich meta descriptions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051171"/>
                  </a:ext>
                </a:extLst>
              </a:tr>
              <a:tr h="1086465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IN" sz="2400" dirty="0"/>
                        <a:t>Sitemap &amp; robots.txt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US" sz="2400" dirty="0"/>
                        <a:t>Compress images &amp; minify code for speed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229497"/>
                  </a:ext>
                </a:extLst>
              </a:tr>
            </a:tbl>
          </a:graphicData>
        </a:graphic>
      </p:graphicFrame>
      <p:pic>
        <p:nvPicPr>
          <p:cNvPr id="5122" name="Picture 2" descr="Marketing for Manufacturers: How To Use SEO to Market Your Business -  Genius ERP">
            <a:extLst>
              <a:ext uri="{FF2B5EF4-FFF2-40B4-BE49-F238E27FC236}">
                <a16:creationId xmlns:a16="http://schemas.microsoft.com/office/drawing/2014/main" id="{BDE50978-64C0-964F-FFD1-C0960E735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443" y="484531"/>
            <a:ext cx="924710" cy="63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6596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34ABEA23-81F9-B8D5-3AEB-D1624BF7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Marketing Strategy for Hashmato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E13D8F5-3927-C645-926D-35B77701BBF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22350" y="1584960"/>
            <a:ext cx="4827844" cy="442912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Digital Suggestions</a:t>
            </a:r>
          </a:p>
          <a:p>
            <a:pPr marL="0" indent="0" algn="ctr">
              <a:buNone/>
            </a:pPr>
            <a:endParaRPr lang="en-IN" dirty="0">
              <a:solidFill>
                <a:schemeClr val="tx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cs typeface="Aharoni" panose="02010803020104030203" pitchFamily="2" charset="-79"/>
              </a:rPr>
              <a:t>Start SEO blog with keywords like “POS for restaurants”.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cs typeface="Aharoni" panose="02010803020104030203" pitchFamily="2" charset="-79"/>
              </a:rPr>
              <a:t>Run retargeting ads on Google &amp; Meta.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cs typeface="Aharoni" panose="02010803020104030203" pitchFamily="2" charset="-79"/>
              </a:rPr>
              <a:t>Use LinkedIn to share product demos, case studies.</a:t>
            </a:r>
            <a:endParaRPr lang="en-IN" dirty="0">
              <a:solidFill>
                <a:schemeClr val="tx2">
                  <a:lumMod val="50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730E18-76D4-5709-8ED7-403EFDDCEC37}"/>
              </a:ext>
            </a:extLst>
          </p:cNvPr>
          <p:cNvSpPr txBox="1"/>
          <p:nvPr/>
        </p:nvSpPr>
        <p:spPr>
          <a:xfrm>
            <a:off x="5850194" y="1520785"/>
            <a:ext cx="492596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Traditional Suggestions</a:t>
            </a:r>
          </a:p>
          <a:p>
            <a:endParaRPr lang="en-IN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Print brochures for trade shows.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In-store product demos.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Referral program for partners &amp; happy clients.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30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C672-EEA8-FC5C-65A7-F0359C19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My Practical Project – RestroGrow (Wix)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6FF2D-0C2D-7396-808D-51DBC066064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22350" y="1584961"/>
            <a:ext cx="10146806" cy="269207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Selected a clean design layout.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Added services, testimonials &amp; contact form.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Made phone/email buttons clickable.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Optimized basic SEO (titles, descriptions, ALT text).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Ensured mobile-friendliness and smooth navigation.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https://restrogrow.wixsite.com/restrogrow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5228B-6593-A4F6-F4A7-0C3895509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521" y="4277033"/>
            <a:ext cx="4896464" cy="24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54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1717D3-45FB-3FDC-814D-A973FB0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08" y="368658"/>
            <a:ext cx="6228732" cy="830221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Learnings &amp; Outcome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BEF13-579A-BF62-19B4-1C51DB8BD4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3906" y="1430936"/>
            <a:ext cx="6228732" cy="53822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Key Takeaways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BFFEA6F-FBF5-0C7A-39B7-954D2693D81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3906" y="2201216"/>
            <a:ext cx="6228732" cy="362926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Understood how to audit and improve a live website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Built a user-friendly, SEO-ready page using no-code tools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Applied digital marketing ideas from Hashmato to RestroGrow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Gained real-world experience in improving digital presence</a:t>
            </a:r>
          </a:p>
          <a:p>
            <a:endParaRPr lang="en-US" dirty="0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D73ADAD9-C8AE-7308-F14E-7EF4A1CCD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</p:spPr>
        <p:txBody>
          <a:bodyPr/>
          <a:lstStyle/>
          <a:p>
            <a:r>
              <a:rPr lang="en-US" noProof="0" dirty="0"/>
              <a:t>RestroGrow/Hashmato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8462C6F-3FE0-B7FC-EA44-514D19D4A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146" name="Picture 2" descr="cooked food on white ceramic plate">
            <a:extLst>
              <a:ext uri="{FF2B5EF4-FFF2-40B4-BE49-F238E27FC236}">
                <a16:creationId xmlns:a16="http://schemas.microsoft.com/office/drawing/2014/main" id="{CA0775EF-0E07-8A81-FF9B-60CFFF35A71F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9" r="1036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683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0BAD82C-DF49-34BB-7D6E-6AB4BA9DBE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7813" b="7813"/>
          <a:stretch>
            <a:fillRect/>
          </a:stretch>
        </p:blipFill>
        <p:spPr/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3505E3AB-34B1-BCD6-9F83-3E26E4535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151" y="2666662"/>
            <a:ext cx="4434840" cy="762338"/>
          </a:xfrm>
        </p:spPr>
        <p:txBody>
          <a:bodyPr>
            <a:noAutofit/>
          </a:bodyPr>
          <a:lstStyle/>
          <a:p>
            <a:r>
              <a:rPr lang="en-IN" sz="54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181920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60">
      <a:dk1>
        <a:srgbClr val="000000"/>
      </a:dk1>
      <a:lt1>
        <a:srgbClr val="FFFFFF"/>
      </a:lt1>
      <a:dk2>
        <a:srgbClr val="E2D4C0"/>
      </a:dk2>
      <a:lt2>
        <a:srgbClr val="E6E6E6"/>
      </a:lt2>
      <a:accent1>
        <a:srgbClr val="E2CBB9"/>
      </a:accent1>
      <a:accent2>
        <a:srgbClr val="843F00"/>
      </a:accent2>
      <a:accent3>
        <a:srgbClr val="562F08"/>
      </a:accent3>
      <a:accent4>
        <a:srgbClr val="91CF50"/>
      </a:accent4>
      <a:accent5>
        <a:srgbClr val="2B9C4F"/>
      </a:accent5>
      <a:accent6>
        <a:srgbClr val="0B7149"/>
      </a:accent6>
      <a:hlink>
        <a:srgbClr val="FFF8F9"/>
      </a:hlink>
      <a:folHlink>
        <a:srgbClr val="2B6ACD"/>
      </a:folHlink>
    </a:clrScheme>
    <a:fontScheme name="Custom 71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01884_Win32_SL_v5" id="{7AFE633C-0110-4F77-84ED-A8BF8EBFD362}" vid="{80EE89D2-E5CC-48AF-BB35-D1580B918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510185-06BE-4162-BEE1-5DC8B9C9C1B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AE634-DEC4-4395-A997-0E4563AFF1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DD14FD-BC23-4945-A0FC-5BDE75B3DF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Coffee Shop Business Pitch Deck</Template>
  <TotalTime>149</TotalTime>
  <Words>438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Aharoni</vt:lpstr>
      <vt:lpstr>Arial</vt:lpstr>
      <vt:lpstr>Calibri</vt:lpstr>
      <vt:lpstr>Courier New</vt:lpstr>
      <vt:lpstr>Lato</vt:lpstr>
      <vt:lpstr>Lato Black</vt:lpstr>
      <vt:lpstr>Wingdings</vt:lpstr>
      <vt:lpstr>Custom</vt:lpstr>
      <vt:lpstr>Raamya Pandey  (BMAI-C-WD-E-B12)</vt:lpstr>
      <vt:lpstr>Company Overview</vt:lpstr>
      <vt:lpstr>What Hashmato Offers :</vt:lpstr>
      <vt:lpstr>PowerPoint Presentation</vt:lpstr>
      <vt:lpstr>Website Audit – Design</vt:lpstr>
      <vt:lpstr>User Experience</vt:lpstr>
      <vt:lpstr>SEO – Key Fixes Suggested</vt:lpstr>
      <vt:lpstr>Marketing Strategy for Hashmato</vt:lpstr>
      <vt:lpstr>My Practical Project – RestroGrow (Wix)</vt:lpstr>
      <vt:lpstr>Learnings &amp; Outcome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Pandey</dc:creator>
  <cp:lastModifiedBy>Mayank Pandey</cp:lastModifiedBy>
  <cp:revision>1</cp:revision>
  <dcterms:created xsi:type="dcterms:W3CDTF">2025-07-28T09:56:06Z</dcterms:created>
  <dcterms:modified xsi:type="dcterms:W3CDTF">2025-07-29T06:27:02Z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